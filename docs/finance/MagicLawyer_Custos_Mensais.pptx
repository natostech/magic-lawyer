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900000">
            <a:off x="-1097280" y="-1097280"/>
            <a:ext cx="4114800" cy="4114800"/>
          </a:xfrm>
          <a:prstGeom prst="ellipse">
            <a:avLst/>
          </a:prstGeom>
          <a:solidFill>
            <a:srgbClr val="00A2AE"/>
          </a:solidFill>
          <a:ln>
            <a:solidFill>
              <a:srgbClr val="00A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2AE"/>
                </a:solidFill>
              </a:defRPr>
            </a:pPr>
            <a:r>
              <a:t>MAGIC LAWYER – 10/11/2025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91970"/>
                </a:solidFill>
              </a:rPr>
              <a:t>Plano Financeiro Mensal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t>História de investimento e assinatura para o parceiro certo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834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00A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>
                <a:solidFill>
                  <a:srgbClr val="00A2AE"/>
                </a:solidFill>
              </a:defRPr>
            </a:pPr>
            <a:r>
              <a:t>💠</a:t>
            </a:r>
          </a:p>
          <a:p>
            <a:pPr>
              <a:defRPr sz="1600" b="1">
                <a:solidFill>
                  <a:srgbClr val="191970"/>
                </a:solidFill>
              </a:defRPr>
            </a:pPr>
            <a:r>
              <a:t>Infra fixa</a:t>
            </a:r>
          </a:p>
          <a:p>
            <a:pPr>
              <a:defRPr sz="2400" b="1">
                <a:solidFill>
                  <a:srgbClr val="000000"/>
                </a:solidFill>
              </a:defRPr>
            </a:pPr>
            <a:r>
              <a:t>R$ 1,678 mil</a:t>
            </a:r>
          </a:p>
          <a:p>
            <a:pPr>
              <a:defRPr sz="1300">
                <a:solidFill>
                  <a:srgbClr val="262626"/>
                </a:solidFill>
              </a:defRPr>
            </a:pPr>
            <a:r>
              <a:t>Hosting, banco, realtime, DNS e contas Google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011680"/>
            <a:ext cx="2834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>
                <a:solidFill>
                  <a:srgbClr val="191970"/>
                </a:solidFill>
              </a:defRPr>
            </a:pPr>
            <a:r>
              <a:t>📈</a:t>
            </a:r>
          </a:p>
          <a:p>
            <a:pPr>
              <a:defRPr sz="1600" b="1">
                <a:solidFill>
                  <a:srgbClr val="191970"/>
                </a:solidFill>
              </a:defRPr>
            </a:pPr>
            <a:r>
              <a:t>Envelope variável</a:t>
            </a:r>
          </a:p>
          <a:p>
            <a:pPr>
              <a:defRPr sz="2400" b="1">
                <a:solidFill>
                  <a:srgbClr val="000000"/>
                </a:solidFill>
              </a:defRPr>
            </a:pPr>
            <a:r>
              <a:t>R$ 2,35 mil</a:t>
            </a:r>
          </a:p>
          <a:p>
            <a:pPr>
              <a:defRPr sz="1300">
                <a:solidFill>
                  <a:srgbClr val="262626"/>
                </a:solidFill>
              </a:defRPr>
            </a:pPr>
            <a:r>
              <a:t>Pagamentos, mensageria, storage extra, WhatsApp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011680"/>
            <a:ext cx="2834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>
                <a:solidFill>
                  <a:srgbClr val="FF8C00"/>
                </a:solidFill>
              </a:defRPr>
            </a:pPr>
            <a:r>
              <a:t>🚀</a:t>
            </a:r>
          </a:p>
          <a:p>
            <a:pPr>
              <a:defRPr sz="1600" b="1">
                <a:solidFill>
                  <a:srgbClr val="191970"/>
                </a:solidFill>
              </a:defRPr>
            </a:pPr>
            <a:r>
              <a:t>Break-even</a:t>
            </a:r>
          </a:p>
          <a:p>
            <a:pPr>
              <a:defRPr sz="2400" b="1">
                <a:solidFill>
                  <a:srgbClr val="000000"/>
                </a:solidFill>
              </a:defRPr>
            </a:pPr>
            <a:r>
              <a:t>Mix 5-3-1</a:t>
            </a:r>
          </a:p>
          <a:p>
            <a:pPr>
              <a:defRPr sz="1300">
                <a:solidFill>
                  <a:srgbClr val="262626"/>
                </a:solidFill>
              </a:defRPr>
            </a:pPr>
            <a:r>
              <a:t>5 Básico + 3 Pro + 1 Enterprise = R$ 4,6 mil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900000">
            <a:off x="-1097280" y="-1097280"/>
            <a:ext cx="4114800" cy="4114800"/>
          </a:xfrm>
          <a:prstGeom prst="ellipse">
            <a:avLst/>
          </a:prstGeom>
          <a:solidFill>
            <a:srgbClr val="00A2AE"/>
          </a:solidFill>
          <a:ln>
            <a:solidFill>
              <a:srgbClr val="00A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2AE"/>
                </a:solidFill>
              </a:defRPr>
            </a:pPr>
            <a:r>
              <a:t>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91970"/>
                </a:solidFill>
              </a:rPr>
              <a:t>Visão Rápida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t>Quanto precisamos por mês e como cada bloco se paga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8686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2626"/>
                </a:solidFill>
              </a:defRPr>
            </a:pPr>
            <a:r>
              <a:t>Capex recorrente estimado: **R$ 4,0 mil/mês** (infra obrigatória + variáveis moderadas).</a:t>
            </a:r>
          </a:p>
          <a:p>
            <a:pPr>
              <a:defRPr sz="1800">
                <a:solidFill>
                  <a:srgbClr val="262626"/>
                </a:solidFill>
              </a:defRPr>
            </a:pPr>
            <a:r>
              <a:t>Foco em previsibilidade: contratos anuais com cloud + provisionamento de variáveis evita sustos.</a:t>
            </a:r>
          </a:p>
          <a:p>
            <a:pPr>
              <a:defRPr sz="1800">
                <a:solidFill>
                  <a:srgbClr val="262626"/>
                </a:solidFill>
              </a:defRPr>
            </a:pPr>
            <a:r>
              <a:t>MRR alvo para break-even imediato: **R$ 1,7 mil** (7 Básico ou 3 Pro).</a:t>
            </a:r>
          </a:p>
          <a:p>
            <a:pPr>
              <a:defRPr sz="1800">
                <a:solidFill>
                  <a:srgbClr val="262626"/>
                </a:solidFill>
              </a:defRPr>
            </a:pPr>
            <a:r>
              <a:t>Margem operacional desejada pós-break-even: **≥ R$ 2,5 mil/mês** para CAC e sucesso do cliente.</a:t>
            </a:r>
          </a:p>
          <a:p>
            <a:pPr>
              <a:defRPr sz="1800">
                <a:solidFill>
                  <a:srgbClr val="262626"/>
                </a:solidFill>
              </a:defRPr>
            </a:pPr>
            <a:r>
              <a:t>Escala adicional vem de add-ons (WhatsApp oficial, storage premium, onboarding white-glove).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900000">
            <a:off x="-1097280" y="-1097280"/>
            <a:ext cx="4114800" cy="4114800"/>
          </a:xfrm>
          <a:prstGeom prst="ellipse">
            <a:avLst/>
          </a:prstGeom>
          <a:solidFill>
            <a:srgbClr val="00A2AE"/>
          </a:solidFill>
          <a:ln>
            <a:solidFill>
              <a:srgbClr val="00A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2AE"/>
                </a:solidFill>
              </a:defRPr>
            </a:pPr>
            <a:r>
              <a:t>INFRAESTRUTURA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91970"/>
                </a:solidFill>
              </a:rPr>
              <a:t>Stack Obrigatório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t>Serviços que mantêm o Magic Lawyer 24/7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Serviço</a:t>
                      </a:r>
                    </a:p>
                  </a:txBody>
                  <a:tcPr marL="45720" marR="45720" marT="36576" marB="36576"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Função</a:t>
                      </a:r>
                    </a:p>
                  </a:txBody>
                  <a:tcPr marL="45720" marR="45720" marT="36576" marB="36576"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Plano</a:t>
                      </a:r>
                    </a:p>
                  </a:txBody>
                  <a:tcPr marL="45720" marR="45720" marT="36576" marB="36576">
                    <a:solidFill>
                      <a:srgbClr val="E5EB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R$/mês</a:t>
                      </a:r>
                    </a:p>
                  </a:txBody>
                  <a:tcPr marL="45720" marR="45720" marT="36576" marB="36576">
                    <a:solidFill>
                      <a:srgbClr val="E5E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Vercel</a:t>
                      </a:r>
                    </a:p>
                  </a:txBody>
                  <a:tcPr marL="45720" marR="45720" marT="36576" marB="36576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Hosting Next.js + crons</a:t>
                      </a:r>
                    </a:p>
                  </a:txBody>
                  <a:tcPr marL="45720" marR="45720" marT="36576" marB="36576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Team Pro</a:t>
                      </a:r>
                    </a:p>
                  </a:txBody>
                  <a:tcPr marL="45720" marR="45720" marT="36576" marB="36576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220</a:t>
                      </a:r>
                    </a:p>
                  </a:txBody>
                  <a:tcPr marL="45720" marR="45720" marT="36576" marB="36576">
                    <a:solidFill>
                      <a:srgbClr val="F1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Neon/Supabase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PostgreSQL multi-tenant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Pro 2 CU / 500 GB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435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Upstash Redis</a:t>
                      </a:r>
                    </a:p>
                  </a:txBody>
                  <a:tcPr marL="45720" marR="45720" marT="36576" marB="36576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BullMQ, locks e cache</a:t>
                      </a:r>
                    </a:p>
                  </a:txBody>
                  <a:tcPr marL="45720" marR="45720" marT="36576" marB="36576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Pro 100M cmds</a:t>
                      </a:r>
                    </a:p>
                  </a:txBody>
                  <a:tcPr marL="45720" marR="45720" marT="36576" marB="36576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marL="45720" marR="45720" marT="36576" marB="36576">
                    <a:solidFill>
                      <a:srgbClr val="F1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Ably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Realtime multi-tenant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Business 3M msgs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270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Cloudinary</a:t>
                      </a:r>
                    </a:p>
                  </a:txBody>
                  <a:tcPr marL="45720" marR="45720" marT="36576" marB="36576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Docs pesados e transformações</a:t>
                      </a:r>
                    </a:p>
                  </a:txBody>
                  <a:tcPr marL="45720" marR="45720" marT="36576" marB="36576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Advanced 600 créditos</a:t>
                      </a:r>
                    </a:p>
                  </a:txBody>
                  <a:tcPr marL="45720" marR="45720" marT="36576" marB="36576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545</a:t>
                      </a:r>
                    </a:p>
                  </a:txBody>
                  <a:tcPr marL="45720" marR="45720" marT="36576" marB="36576">
                    <a:solidFill>
                      <a:srgbClr val="F1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Google Workspace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SMTP + contas core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Business Starter (2)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Domínios + Cloudflare</a:t>
                      </a:r>
                    </a:p>
                  </a:txBody>
                  <a:tcPr marL="45720" marR="45720" marT="36576" marB="36576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DNS, SSL e WAF</a:t>
                      </a:r>
                    </a:p>
                  </a:txBody>
                  <a:tcPr marL="45720" marR="45720" marT="36576" marB="36576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Registros + CF Pro</a:t>
                      </a:r>
                    </a:p>
                  </a:txBody>
                  <a:tcPr marL="45720" marR="45720" marT="36576" marB="36576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marL="45720" marR="45720" marT="36576" marB="36576">
                    <a:solidFill>
                      <a:srgbClr val="F1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900000">
            <a:off x="-1097280" y="-1097280"/>
            <a:ext cx="4114800" cy="4114800"/>
          </a:xfrm>
          <a:prstGeom prst="ellipse">
            <a:avLst/>
          </a:prstGeom>
          <a:solidFill>
            <a:srgbClr val="00A2AE"/>
          </a:solidFill>
          <a:ln>
            <a:solidFill>
              <a:srgbClr val="00A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2AE"/>
                </a:solidFill>
              </a:defRPr>
            </a:pPr>
            <a:r>
              <a:t>VARIÁVEIS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91970"/>
                </a:solidFill>
              </a:rPr>
              <a:t>Envelope Variável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t>Custos sensíveis a volume e engrenagens de receita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06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 marL="45720" marR="45720" marT="36576" marB="36576">
                    <a:solidFill>
                      <a:srgbClr val="E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Métrica de cobrança</a:t>
                      </a:r>
                    </a:p>
                  </a:txBody>
                  <a:tcPr marL="45720" marR="45720" marT="36576" marB="36576">
                    <a:solidFill>
                      <a:srgbClr val="E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Exemplo/mês</a:t>
                      </a:r>
                    </a:p>
                  </a:txBody>
                  <a:tcPr marL="45720" marR="45720" marT="36576" marB="36576">
                    <a:solidFill>
                      <a:srgbClr val="E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Investimento (R$)</a:t>
                      </a:r>
                    </a:p>
                  </a:txBody>
                  <a:tcPr marL="45720" marR="45720" marT="36576" marB="36576">
                    <a:solidFill>
                      <a:srgbClr val="E5F8F7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Asaas</a:t>
                      </a:r>
                    </a:p>
                  </a:txBody>
                  <a:tcPr marL="45720" marR="45720" marT="36576" marB="36576">
                    <a:solidFill>
                      <a:srgbClr val="ECF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Boleto/PIX/cartão</a:t>
                      </a:r>
                    </a:p>
                  </a:txBody>
                  <a:tcPr marL="45720" marR="45720" marT="36576" marB="36576">
                    <a:solidFill>
                      <a:srgbClr val="ECF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200 boletos + 100 PIX + 80 cartões</a:t>
                      </a:r>
                    </a:p>
                  </a:txBody>
                  <a:tcPr marL="45720" marR="45720" marT="36576" marB="36576">
                    <a:solidFill>
                      <a:srgbClr val="ECF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1.414</a:t>
                      </a:r>
                    </a:p>
                  </a:txBody>
                  <a:tcPr marL="45720" marR="45720" marT="36576" marB="36576">
                    <a:solidFill>
                      <a:srgbClr val="ECFB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Cloudinary extra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Crédito adicional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+300 créditos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248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Ably excedente</a:t>
                      </a:r>
                    </a:p>
                  </a:txBody>
                  <a:tcPr marL="45720" marR="45720" marT="36576" marB="36576">
                    <a:solidFill>
                      <a:srgbClr val="ECF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Mensagens &gt; 3M</a:t>
                      </a:r>
                    </a:p>
                  </a:txBody>
                  <a:tcPr marL="45720" marR="45720" marT="36576" marB="36576">
                    <a:solidFill>
                      <a:srgbClr val="ECF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+5M msgs</a:t>
                      </a:r>
                    </a:p>
                  </a:txBody>
                  <a:tcPr marL="45720" marR="45720" marT="36576" marB="36576">
                    <a:solidFill>
                      <a:srgbClr val="ECF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marL="45720" marR="45720" marT="36576" marB="36576">
                    <a:solidFill>
                      <a:srgbClr val="ECFB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Upstash overage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Comandos adicionais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+300k cmds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Backups S3/Wasabi</a:t>
                      </a:r>
                    </a:p>
                  </a:txBody>
                  <a:tcPr marL="45720" marR="45720" marT="36576" marB="36576">
                    <a:solidFill>
                      <a:srgbClr val="ECF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200 GB</a:t>
                      </a:r>
                    </a:p>
                  </a:txBody>
                  <a:tcPr marL="45720" marR="45720" marT="36576" marB="36576">
                    <a:solidFill>
                      <a:srgbClr val="ECF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Snapshots + assets</a:t>
                      </a:r>
                    </a:p>
                  </a:txBody>
                  <a:tcPr marL="45720" marR="45720" marT="36576" marB="36576">
                    <a:solidFill>
                      <a:srgbClr val="ECF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marL="45720" marR="45720" marT="36576" marB="36576">
                    <a:solidFill>
                      <a:srgbClr val="ECFB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ngrok Pro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QA de webhooks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1 túnel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Resend fallback</a:t>
                      </a:r>
                    </a:p>
                  </a:txBody>
                  <a:tcPr marL="45720" marR="45720" marT="36576" marB="36576">
                    <a:solidFill>
                      <a:srgbClr val="ECF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40k e-mails</a:t>
                      </a:r>
                    </a:p>
                  </a:txBody>
                  <a:tcPr marL="45720" marR="45720" marT="36576" marB="36576">
                    <a:solidFill>
                      <a:srgbClr val="ECF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Starter + excedente</a:t>
                      </a:r>
                    </a:p>
                  </a:txBody>
                  <a:tcPr marL="45720" marR="45720" marT="36576" marB="36576">
                    <a:solidFill>
                      <a:srgbClr val="ECFB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154</a:t>
                      </a:r>
                    </a:p>
                  </a:txBody>
                  <a:tcPr marL="45720" marR="45720" marT="36576" marB="36576">
                    <a:solidFill>
                      <a:srgbClr val="ECFB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Meta Cloud API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1.000 conversas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Mix autenticação/utilidade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350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900000">
            <a:off x="-1097280" y="-1097280"/>
            <a:ext cx="4114800" cy="4114800"/>
          </a:xfrm>
          <a:prstGeom prst="ellipse">
            <a:avLst/>
          </a:prstGeom>
          <a:solidFill>
            <a:srgbClr val="00A2AE"/>
          </a:solidFill>
          <a:ln>
            <a:solidFill>
              <a:srgbClr val="00A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2AE"/>
                </a:solidFill>
              </a:defRPr>
            </a:pPr>
            <a:r>
              <a:t>RECEITA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91970"/>
                </a:solidFill>
              </a:rPr>
              <a:t>Oferta de Assinatura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t>O que cada plano entrega e quanto cobramos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737360"/>
          <a:ext cx="8778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755648"/>
                <a:gridCol w="1755648"/>
                <a:gridCol w="1755648"/>
                <a:gridCol w="1755648"/>
              </a:tblGrid>
              <a:tr h="71323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Plano</a:t>
                      </a:r>
                    </a:p>
                  </a:txBody>
                  <a:tcPr marL="45720" marR="45720" marT="36576" marB="36576">
                    <a:solidFill>
                      <a:srgbClr val="FD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Perfil</a:t>
                      </a:r>
                    </a:p>
                  </a:txBody>
                  <a:tcPr marL="45720" marR="45720" marT="36576" marB="36576">
                    <a:solidFill>
                      <a:srgbClr val="FD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Limites inclusos</a:t>
                      </a:r>
                    </a:p>
                  </a:txBody>
                  <a:tcPr marL="45720" marR="45720" marT="36576" marB="36576">
                    <a:solidFill>
                      <a:srgbClr val="FD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Preço mensal</a:t>
                      </a:r>
                    </a:p>
                  </a:txBody>
                  <a:tcPr marL="45720" marR="45720" marT="36576" marB="36576">
                    <a:solidFill>
                      <a:srgbClr val="FD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Preço anual</a:t>
                      </a:r>
                    </a:p>
                  </a:txBody>
                  <a:tcPr marL="45720" marR="45720" marT="36576" marB="36576">
                    <a:solidFill>
                      <a:srgbClr val="FDEDD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Básico</a:t>
                      </a:r>
                    </a:p>
                  </a:txBody>
                  <a:tcPr marL="45720" marR="45720" marT="36576" marB="36576">
                    <a:solidFill>
                      <a:srgbClr val="FFF8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Até 3 usuários</a:t>
                      </a:r>
                    </a:p>
                  </a:txBody>
                  <a:tcPr marL="45720" marR="45720" marT="36576" marB="36576">
                    <a:solidFill>
                      <a:srgbClr val="FFF8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50 processos / 1 GB / 500 docs</a:t>
                      </a:r>
                    </a:p>
                  </a:txBody>
                  <a:tcPr marL="45720" marR="45720" marT="36576" marB="36576">
                    <a:solidFill>
                      <a:srgbClr val="FFF8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R$ 249</a:t>
                      </a:r>
                    </a:p>
                  </a:txBody>
                  <a:tcPr marL="45720" marR="45720" marT="36576" marB="36576">
                    <a:solidFill>
                      <a:srgbClr val="FFF8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R$ 2.490</a:t>
                      </a:r>
                    </a:p>
                  </a:txBody>
                  <a:tcPr marL="45720" marR="45720" marT="36576" marB="36576">
                    <a:solidFill>
                      <a:srgbClr val="FFF8E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Pro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Até 10 usuários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200 processos / 5 GB / 2k docs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R$ 699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R$ 6.990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 marL="45720" marR="45720" marT="36576" marB="36576">
                    <a:solidFill>
                      <a:srgbClr val="FFF8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Até 50 usuários</a:t>
                      </a:r>
                    </a:p>
                  </a:txBody>
                  <a:tcPr marL="45720" marR="45720" marT="36576" marB="36576">
                    <a:solidFill>
                      <a:srgbClr val="FFF8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1.000 processos / 20 GB / 10k docs</a:t>
                      </a:r>
                    </a:p>
                  </a:txBody>
                  <a:tcPr marL="45720" marR="45720" marT="36576" marB="36576">
                    <a:solidFill>
                      <a:srgbClr val="FFF8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R$ 1.299</a:t>
                      </a:r>
                    </a:p>
                  </a:txBody>
                  <a:tcPr marL="45720" marR="45720" marT="36576" marB="36576">
                    <a:solidFill>
                      <a:srgbClr val="FFF8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R$ 12.990</a:t>
                      </a:r>
                    </a:p>
                  </a:txBody>
                  <a:tcPr marL="45720" marR="45720" marT="36576" marB="36576">
                    <a:solidFill>
                      <a:srgbClr val="FFF8E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Ultra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Sob demanda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Limites customizados + gerente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R$ 2.490+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Sob consulta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66344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62626"/>
                </a:solidFill>
              </a:defRPr>
            </a:pPr>
            <a:r>
              <a:t>Add-ons: WhatsApp oficial, storage adicional, blocos de documentos e onboarding premium.</a:t>
            </a:r>
          </a:p>
          <a:p>
            <a:pPr>
              <a:defRPr sz="1400">
                <a:solidFill>
                  <a:srgbClr val="262626"/>
                </a:solidFill>
              </a:defRPr>
            </a:pPr>
            <a:r>
              <a:t>Upsell planejado após adoção do Pro (integrações PJe, API e automações).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900000">
            <a:off x="-1097280" y="-1097280"/>
            <a:ext cx="4114800" cy="4114800"/>
          </a:xfrm>
          <a:prstGeom prst="ellipse">
            <a:avLst/>
          </a:prstGeom>
          <a:solidFill>
            <a:srgbClr val="00A2AE"/>
          </a:solidFill>
          <a:ln>
            <a:solidFill>
              <a:srgbClr val="00A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2AE"/>
                </a:solidFill>
              </a:defRPr>
            </a:pPr>
            <a:r>
              <a:t>RENTABILIDADE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91970"/>
                </a:solidFill>
              </a:rPr>
              <a:t>Break-even &amp; Payback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t>Como a assinatura cobre o investimento mensal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017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00A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>
                <a:solidFill>
                  <a:srgbClr val="00A2AE"/>
                </a:solidFill>
              </a:defRPr>
            </a:pPr>
            <a:r>
              <a:t>🎯</a:t>
            </a:r>
          </a:p>
          <a:p>
            <a:pPr>
              <a:defRPr sz="1600" b="1">
                <a:solidFill>
                  <a:srgbClr val="191970"/>
                </a:solidFill>
              </a:defRPr>
            </a:pPr>
            <a:r>
              <a:t>Meta 5-3-1</a:t>
            </a:r>
          </a:p>
          <a:p>
            <a:pPr>
              <a:defRPr sz="2400" b="1">
                <a:solidFill>
                  <a:srgbClr val="000000"/>
                </a:solidFill>
              </a:defRPr>
            </a:pPr>
            <a:r>
              <a:t>R$ 4,641</a:t>
            </a:r>
          </a:p>
          <a:p>
            <a:pPr>
              <a:defRPr sz="1300">
                <a:solidFill>
                  <a:srgbClr val="262626"/>
                </a:solidFill>
              </a:defRPr>
            </a:pPr>
            <a:r>
              <a:t>5 Básico + 3 Pro + 1 Enterprise pagam o mês e sobram R$ 2,963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645920"/>
            <a:ext cx="3017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>
                <a:solidFill>
                  <a:srgbClr val="191970"/>
                </a:solidFill>
              </a:defRPr>
            </a:pPr>
            <a:r>
              <a:t>⚡️</a:t>
            </a:r>
          </a:p>
          <a:p>
            <a:pPr>
              <a:defRPr sz="1600" b="1">
                <a:solidFill>
                  <a:srgbClr val="191970"/>
                </a:solidFill>
              </a:defRPr>
            </a:pPr>
            <a:r>
              <a:t>Payback imediato</a:t>
            </a:r>
          </a:p>
          <a:p>
            <a:pPr>
              <a:defRPr sz="2400" b="1">
                <a:solidFill>
                  <a:srgbClr val="000000"/>
                </a:solidFill>
              </a:defRPr>
            </a:pPr>
            <a:r>
              <a:t>R$ 1,7 mil</a:t>
            </a:r>
          </a:p>
          <a:p>
            <a:pPr>
              <a:defRPr sz="1300">
                <a:solidFill>
                  <a:srgbClr val="262626"/>
                </a:solidFill>
              </a:defRPr>
            </a:pPr>
            <a:r>
              <a:t>7 Básico ou 3 Pro já cobrem a infra fixa de R$ 1,678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45920"/>
            <a:ext cx="3017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>
                <a:solidFill>
                  <a:srgbClr val="FF8C00"/>
                </a:solidFill>
              </a:defRPr>
            </a:pPr>
            <a:r>
              <a:t>💸</a:t>
            </a:r>
          </a:p>
          <a:p>
            <a:pPr>
              <a:defRPr sz="1600" b="1">
                <a:solidFill>
                  <a:srgbClr val="191970"/>
                </a:solidFill>
              </a:defRPr>
            </a:pPr>
            <a:r>
              <a:t>Margem alvo</a:t>
            </a:r>
          </a:p>
          <a:p>
            <a:pPr>
              <a:defRPr sz="2400" b="1">
                <a:solidFill>
                  <a:srgbClr val="000000"/>
                </a:solidFill>
              </a:defRPr>
            </a:pPr>
            <a:r>
              <a:t>≥ R$ 2,5 mil</a:t>
            </a:r>
          </a:p>
          <a:p>
            <a:pPr>
              <a:defRPr sz="1300">
                <a:solidFill>
                  <a:srgbClr val="262626"/>
                </a:solidFill>
              </a:defRPr>
            </a:pPr>
            <a:r>
              <a:t>Reserva mensal para CAC, marketing e sucesso do cliente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566160"/>
          <a:ext cx="8778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4800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Mix</a:t>
                      </a:r>
                    </a:p>
                  </a:txBody>
                  <a:tcPr marL="45720" marR="45720" marT="36576" marB="36576">
                    <a:solidFill>
                      <a:srgbClr val="E4E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Receita</a:t>
                      </a:r>
                    </a:p>
                  </a:txBody>
                  <a:tcPr marL="45720" marR="45720" marT="36576" marB="36576">
                    <a:solidFill>
                      <a:srgbClr val="E4E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Margem sobre fixo</a:t>
                      </a:r>
                    </a:p>
                  </a:txBody>
                  <a:tcPr marL="45720" marR="45720" marT="36576" marB="36576">
                    <a:solidFill>
                      <a:srgbClr val="E4E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Comentário</a:t>
                      </a:r>
                    </a:p>
                  </a:txBody>
                  <a:tcPr marL="45720" marR="45720" marT="36576" marB="36576">
                    <a:solidFill>
                      <a:srgbClr val="E4EC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5B + 4P + 1E</a:t>
                      </a:r>
                    </a:p>
                  </a:txBody>
                  <a:tcPr marL="45720" marR="45720" marT="36576" marB="36576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R$ 5.340</a:t>
                      </a:r>
                    </a:p>
                  </a:txBody>
                  <a:tcPr marL="45720" marR="45720" marT="36576" marB="36576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R$ 3.662</a:t>
                      </a:r>
                    </a:p>
                  </a:txBody>
                  <a:tcPr marL="45720" marR="45720" marT="36576" marB="36576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Foco em Pro acelera margem</a:t>
                      </a:r>
                    </a:p>
                  </a:txBody>
                  <a:tcPr marL="45720" marR="45720" marT="36576" marB="36576">
                    <a:solidFill>
                      <a:srgbClr val="EFF4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5B + 5P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R$ 4.740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R$ 3.062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Sem Enterprise ainda cobre folgado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5B + 2P + 2E</a:t>
                      </a:r>
                    </a:p>
                  </a:txBody>
                  <a:tcPr marL="45720" marR="45720" marT="36576" marB="36576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R$ 5.241</a:t>
                      </a:r>
                    </a:p>
                  </a:txBody>
                  <a:tcPr marL="45720" marR="45720" marT="36576" marB="36576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R$ 3.563</a:t>
                      </a:r>
                    </a:p>
                  </a:txBody>
                  <a:tcPr marL="45720" marR="45720" marT="36576" marB="36576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Enterprise libera caixa para marketing</a:t>
                      </a:r>
                    </a:p>
                  </a:txBody>
                  <a:tcPr marL="45720" marR="45720" marT="36576" marB="36576">
                    <a:solidFill>
                      <a:srgbClr val="EF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900000">
            <a:off x="-1097280" y="-1097280"/>
            <a:ext cx="4114800" cy="4114800"/>
          </a:xfrm>
          <a:prstGeom prst="ellipse">
            <a:avLst/>
          </a:prstGeom>
          <a:solidFill>
            <a:srgbClr val="00A2AE"/>
          </a:solidFill>
          <a:ln>
            <a:solidFill>
              <a:srgbClr val="00A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2AE"/>
                </a:solidFill>
              </a:defRPr>
            </a:pPr>
            <a:r>
              <a:t>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91970"/>
                </a:solidFill>
              </a:rPr>
              <a:t>Projeção por Estágio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t>Infra + variáveis versus crescimento de tenants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737360"/>
          <a:ext cx="87782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034"/>
                <a:gridCol w="1254034"/>
                <a:gridCol w="1254034"/>
                <a:gridCol w="1254034"/>
                <a:gridCol w="1254034"/>
                <a:gridCol w="1254034"/>
                <a:gridCol w="1254034"/>
              </a:tblGrid>
              <a:tr h="868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Estágio</a:t>
                      </a:r>
                    </a:p>
                  </a:txBody>
                  <a:tcPr marL="45720" marR="45720" marT="36576" marB="36576">
                    <a:solidFill>
                      <a:srgbClr val="E3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Tenants</a:t>
                      </a:r>
                    </a:p>
                  </a:txBody>
                  <a:tcPr marL="45720" marR="45720" marT="36576" marB="36576">
                    <a:solidFill>
                      <a:srgbClr val="E3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Usuários</a:t>
                      </a:r>
                    </a:p>
                  </a:txBody>
                  <a:tcPr marL="45720" marR="45720" marT="36576" marB="36576">
                    <a:solidFill>
                      <a:srgbClr val="E3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Processos/mês</a:t>
                      </a:r>
                    </a:p>
                  </a:txBody>
                  <a:tcPr marL="45720" marR="45720" marT="36576" marB="36576">
                    <a:solidFill>
                      <a:srgbClr val="E3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Receita EUA (Asaas)</a:t>
                      </a:r>
                    </a:p>
                  </a:txBody>
                  <a:tcPr marL="45720" marR="45720" marT="36576" marB="36576">
                    <a:solidFill>
                      <a:srgbClr val="E3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Opex variável</a:t>
                      </a:r>
                    </a:p>
                  </a:txBody>
                  <a:tcPr marL="45720" marR="45720" marT="36576" marB="36576">
                    <a:solidFill>
                      <a:srgbClr val="E3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91970"/>
                          </a:solidFill>
                        </a:defRPr>
                      </a:pPr>
                      <a:r>
                        <a:t>Custo total</a:t>
                      </a:r>
                    </a:p>
                  </a:txBody>
                  <a:tcPr marL="45720" marR="45720" marT="36576" marB="36576">
                    <a:solidFill>
                      <a:srgbClr val="E3F5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Lançamento</a:t>
                      </a:r>
                    </a:p>
                  </a:txBody>
                  <a:tcPr marL="45720" marR="45720" marT="36576" marB="36576">
                    <a:solidFill>
                      <a:srgbClr val="ED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45720" marR="45720" marT="36576" marB="36576">
                    <a:solidFill>
                      <a:srgbClr val="ED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marL="45720" marR="45720" marT="36576" marB="36576">
                    <a:solidFill>
                      <a:srgbClr val="ED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 marL="45720" marR="45720" marT="36576" marB="36576">
                    <a:solidFill>
                      <a:srgbClr val="ED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R$ 90 mil</a:t>
                      </a:r>
                    </a:p>
                  </a:txBody>
                  <a:tcPr marL="45720" marR="45720" marT="36576" marB="36576">
                    <a:solidFill>
                      <a:srgbClr val="ED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R$ 450</a:t>
                      </a:r>
                    </a:p>
                  </a:txBody>
                  <a:tcPr marL="45720" marR="45720" marT="36576" marB="36576">
                    <a:solidFill>
                      <a:srgbClr val="ED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R$ 2.130</a:t>
                      </a:r>
                    </a:p>
                  </a:txBody>
                  <a:tcPr marL="45720" marR="45720" marT="36576" marB="36576">
                    <a:solidFill>
                      <a:srgbClr val="EDFA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Crescimento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250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600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R$ 360 mil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R$ 1.650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R$ 3.330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Escala regional</a:t>
                      </a:r>
                    </a:p>
                  </a:txBody>
                  <a:tcPr marL="45720" marR="45720" marT="36576" marB="36576">
                    <a:solidFill>
                      <a:srgbClr val="ED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marL="45720" marR="45720" marT="36576" marB="36576">
                    <a:solidFill>
                      <a:srgbClr val="ED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700</a:t>
                      </a:r>
                    </a:p>
                  </a:txBody>
                  <a:tcPr marL="45720" marR="45720" marT="36576" marB="36576">
                    <a:solidFill>
                      <a:srgbClr val="ED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1.800</a:t>
                      </a:r>
                    </a:p>
                  </a:txBody>
                  <a:tcPr marL="45720" marR="45720" marT="36576" marB="36576">
                    <a:solidFill>
                      <a:srgbClr val="ED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R$ 1,1 milhão</a:t>
                      </a:r>
                    </a:p>
                  </a:txBody>
                  <a:tcPr marL="45720" marR="45720" marT="36576" marB="36576">
                    <a:solidFill>
                      <a:srgbClr val="ED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R$ 4.900</a:t>
                      </a:r>
                    </a:p>
                  </a:txBody>
                  <a:tcPr marL="45720" marR="45720" marT="36576" marB="36576">
                    <a:solidFill>
                      <a:srgbClr val="ED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62626"/>
                          </a:solidFill>
                        </a:defRPr>
                      </a:pPr>
                      <a:r>
                        <a:t>R$ 6.580</a:t>
                      </a:r>
                    </a:p>
                  </a:txBody>
                  <a:tcPr marL="45720" marR="45720" marT="36576" marB="36576">
                    <a:solidFill>
                      <a:srgbClr val="EDFA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62626"/>
                </a:solidFill>
              </a:defRPr>
            </a:pPr>
            <a:r>
              <a:t>Receita Asaas assume ticket de R$ 600 e taxa média de 3%.</a:t>
            </a:r>
          </a:p>
          <a:p>
            <a:pPr>
              <a:defRPr sz="1400">
                <a:solidFill>
                  <a:srgbClr val="262626"/>
                </a:solidFill>
              </a:defRPr>
            </a:pPr>
            <a:r>
              <a:t>Acima de 25 tenants: planejar Postgres dedicado e Redis dimensionado.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900000">
            <a:off x="-1097280" y="-1097280"/>
            <a:ext cx="4114800" cy="4114800"/>
          </a:xfrm>
          <a:prstGeom prst="ellipse">
            <a:avLst/>
          </a:prstGeom>
          <a:solidFill>
            <a:srgbClr val="00A2AE"/>
          </a:solidFill>
          <a:ln>
            <a:solidFill>
              <a:srgbClr val="00A2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2AE"/>
                </a:solidFill>
              </a:defRPr>
            </a:pPr>
            <a:r>
              <a:t>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91970"/>
                </a:solidFill>
              </a:rPr>
              <a:t>Próximos Passos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t>Onde investir energia após o cheque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2626"/>
                </a:solidFill>
              </a:defRPr>
            </a:pPr>
            <a:r>
              <a:t>Rever câmbio e contratos com cloud trimestralmente.</a:t>
            </a:r>
          </a:p>
          <a:p>
            <a:pPr>
              <a:defRPr sz="1800">
                <a:solidFill>
                  <a:srgbClr val="262626"/>
                </a:solidFill>
              </a:defRPr>
            </a:pPr>
            <a:r>
              <a:t>Rodar dashboards públicos do “5-3-1” para toda a operação.</a:t>
            </a:r>
          </a:p>
          <a:p>
            <a:pPr>
              <a:defRPr sz="1800">
                <a:solidFill>
                  <a:srgbClr val="262626"/>
                </a:solidFill>
              </a:defRPr>
            </a:pPr>
            <a:r>
              <a:t>Pacotar add-ons premium (WhatsApp oficial, storage extra, onboarding white-glove).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73736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2626"/>
                </a:solidFill>
              </a:defRPr>
            </a:pPr>
            <a:r>
              <a:t>Gatilho de reinvestimento: margem ≥ R$ 2,5 mil → CAC e conteúdo.</a:t>
            </a:r>
          </a:p>
          <a:p>
            <a:pPr>
              <a:defRPr sz="1800">
                <a:solidFill>
                  <a:srgbClr val="262626"/>
                </a:solidFill>
              </a:defRPr>
            </a:pPr>
            <a:r>
              <a:t>Atualizar documento financeiro sempre que entrar novo serviço pago.</a:t>
            </a:r>
          </a:p>
          <a:p>
            <a:pPr>
              <a:defRPr sz="1800">
                <a:solidFill>
                  <a:srgbClr val="262626"/>
                </a:solidFill>
              </a:defRPr>
            </a:pPr>
            <a:r>
              <a:t>Preparar métricas de adoção para próxima rodada (churn, NRR, payback CAC).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